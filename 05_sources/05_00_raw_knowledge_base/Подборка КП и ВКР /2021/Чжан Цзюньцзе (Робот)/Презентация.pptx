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6" r:id="rId3"/>
    <p:sldId id="285" r:id="rId4"/>
    <p:sldId id="259" r:id="rId5"/>
    <p:sldId id="260" r:id="rId6"/>
    <p:sldId id="284" r:id="rId7"/>
    <p:sldId id="288" r:id="rId8"/>
    <p:sldId id="261" r:id="rId9"/>
    <p:sldId id="276" r:id="rId10"/>
    <p:sldId id="286" r:id="rId11"/>
    <p:sldId id="270" r:id="rId12"/>
    <p:sldId id="263" r:id="rId13"/>
    <p:sldId id="264" r:id="rId14"/>
    <p:sldId id="267" r:id="rId15"/>
    <p:sldId id="277" r:id="rId16"/>
    <p:sldId id="289" r:id="rId17"/>
    <p:sldId id="290" r:id="rId18"/>
    <p:sldId id="278" r:id="rId19"/>
    <p:sldId id="279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87" d="100"/>
          <a:sy n="87" d="100"/>
        </p:scale>
        <p:origin x="754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EC4FAD0-10BE-431F-926A-6130F27D70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FCA1FE-9000-46A2-8B98-CE05726DA6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CB550-BF26-40AB-A87B-B56017B32547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752D87-9B57-4FA7-8940-F776890F72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A80A59-0E47-4F3D-8D84-CE73E069EA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CCFA9-A21A-423F-AC75-EFAB9716D2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8146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9A8B2-947B-4106-8B9A-B97E38FFB34A}" type="datetimeFigureOut">
              <a:rPr lang="ru-RU" smtClean="0"/>
              <a:t>08.06.2021</a:t>
            </a:fld>
            <a:endParaRPr lang="ru-RU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ru-R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56F03-2D2B-4B32-93AC-E60297DEF8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7075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263F2-6D9C-4B3B-89F4-D5442E58B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8F5A62-6A8E-4FC3-ADF6-195F98336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D6DB3C-A7D9-4336-84EF-7CC3D21B2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C6132-9E03-4E8B-B464-FD4368D4BF69}" type="datetime1">
              <a:rPr lang="zh-CN" altLang="en-US" smtClean="0"/>
              <a:t>2021/6/8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F68CBE-8374-42A6-986F-36211D135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C2D19F-FB64-4C90-AF21-CFA26BC4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9538" y="6457134"/>
            <a:ext cx="2743200" cy="365125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4BB56B3-F735-4F0B-8D50-01489708E700}" type="slidenum">
              <a:rPr lang="zh-CN" altLang="en-US" smtClean="0"/>
              <a:pPr/>
              <a:t>‹#›</a:t>
            </a:fld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050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713E5-2D7E-4688-BD06-013AACB8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708692-3D7B-43FD-8DC4-69AEB1EC1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ED26C-C22B-4233-9261-8A78FAC7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5D97-2593-47BF-BD54-08EF265B93B9}" type="datetime1">
              <a:rPr lang="zh-CN" altLang="en-US" smtClean="0"/>
              <a:t>2021/6/8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C12166-A65E-4777-9D41-E2C80112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97602C-C795-467A-8817-EA1580A4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322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D593B-B12C-4B80-87CF-2CD7090E7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CBC64B-2B65-4766-A82B-3838671F2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49167B-3B4C-4499-B11E-0703711F5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2E9B-61E8-4AC7-BBB4-DA8E12C46E0B}" type="datetime1">
              <a:rPr lang="zh-CN" altLang="en-US" smtClean="0"/>
              <a:t>2021/6/8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9A1B2A-8B35-4C65-BBA4-F3F9D5488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CA38EF-1DFF-4C2B-8565-F07B33DA5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73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C7E05-E3A8-492B-8E3A-5DA3B8B6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223622-1091-4B66-90C3-C90769113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0E6F3E-CEF5-4DE0-80F4-32FF54AA2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1899E5-01D5-4C15-8D28-3DD82AA15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FD717-F0BF-4448-847B-F0682BCC0B60}" type="datetime1">
              <a:rPr lang="zh-CN" altLang="en-US" smtClean="0"/>
              <a:t>2021/6/8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D9CC74-FE3F-4537-833F-FFC1CAFAB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7B82FF-4185-4037-A34C-2C9BBF96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92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C9AE3-1950-4494-8F6F-67AF00317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8E4137-0E98-454E-AF42-A0739013E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3C87BA-95D1-4141-89FA-E1318AC25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472501-9DEE-45ED-BF12-C6A82A88C7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A84D6D-557E-4EC9-B2F8-CA501ECB3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40B3C7-590E-4E0F-8233-42C266685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4F44-548B-47A5-AA2B-998D97A13ABB}" type="datetime1">
              <a:rPr lang="zh-CN" altLang="en-US" smtClean="0"/>
              <a:t>2021/6/8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262082-47C8-41C2-9F32-2AC8A69B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48D483-3B87-42C5-9484-BB9938AB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510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BDA03-F9A9-44B3-B31F-C4F130756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24054A-4FC2-45E1-B1E2-5C566508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FC00-FF81-404C-B71D-83519C59C91B}" type="datetime1">
              <a:rPr lang="zh-CN" altLang="en-US" smtClean="0"/>
              <a:t>2021/6/8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67580A-E726-4AA7-8225-D47103974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7F4B20-B042-4E3A-A763-68676231C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14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F4F4A-5B93-4172-B28D-21537BC85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9866-3A93-496B-8440-E5BEF072A878}" type="datetime1">
              <a:rPr lang="zh-CN" altLang="en-US" smtClean="0"/>
              <a:t>2021/6/8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0DD830-1619-4B83-BD58-BD2D2D43F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F3F5FF-2D6D-4C20-AE1A-43BCF9DF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263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091E9-C802-4D36-AD45-3C911C7B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C34C03-FBC6-46CE-8010-92282A25B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1C3B37-8BE2-4261-8E60-DAF85B5A9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E98AA3-8791-4CB2-BAFD-07D744928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A705-5149-4325-B24F-AAA0CC203177}" type="datetime1">
              <a:rPr lang="zh-CN" altLang="en-US" smtClean="0"/>
              <a:t>2021/6/8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F2800E-92FE-4FF5-93D4-B7F190BE9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CCCAE8-4A2D-4327-89F2-EA56F43A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297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C325E-262C-4A83-A9E6-4226D357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9F2F76-BCC5-40B2-A4E0-93CEF16CCA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94BFC8-F93E-4712-8435-92B0D338E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805010-6DB3-4DF2-92DD-827DE277A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086BC-01D4-4504-8B86-BE4B636D1FB0}" type="datetime1">
              <a:rPr lang="zh-CN" altLang="en-US" smtClean="0"/>
              <a:t>2021/6/8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4A4538-F0A5-4D13-BDF0-14039356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F55339-5542-44D7-A769-4E2D0956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94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72EB9-EEC1-4E7B-90CF-67801698E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7C1032-829F-4005-AE2F-4E8A2111F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025589-1006-471F-AD89-D34A2F0C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85BE-3603-449B-8320-D85535A66EB9}" type="datetime1">
              <a:rPr lang="zh-CN" altLang="en-US" smtClean="0"/>
              <a:t>2021/6/8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DDE624-3896-40E5-AE00-F9A02658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31CEDA-8238-47AA-A614-C8FD92BC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88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CB199CE-1DBC-4586-966C-F9D4D569E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F7976C-10A9-47DD-A511-D09D4A9D7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6D7B18-A049-48BE-945E-955163109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A835F-B264-49EC-9E8D-65EC4453E8D2}" type="datetime1">
              <a:rPr lang="zh-CN" altLang="en-US" smtClean="0"/>
              <a:t>2021/6/8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8EFA6F-E3B4-4DAE-827E-FB9CCAF5A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825BD1-2DCC-4017-94C6-B2DB2B75E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348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CF3E4B-B0D6-4847-B39A-6B3EDE51D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F8762F-C34E-41C5-B5FC-EA3CE0EA1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0BD8A9-B50F-4D4B-B74C-3B501D3D4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E6A28-4459-4051-9AB2-4EF178587DB8}" type="datetime1">
              <a:rPr lang="zh-CN" altLang="en-US" smtClean="0"/>
              <a:t>2021/6/8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03BD68-207F-477D-9104-067D33983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115264-D3CC-4AD4-BD9E-072DE3D19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B56B3-F735-4F0B-8D50-01489708E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15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2FAC493B-DD9C-46CD-A75B-08CD1085DDD2}"/>
              </a:ext>
            </a:extLst>
          </p:cNvPr>
          <p:cNvSpPr txBox="1"/>
          <p:nvPr/>
        </p:nvSpPr>
        <p:spPr>
          <a:xfrm>
            <a:off x="1444989" y="503285"/>
            <a:ext cx="10611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zh-CN" sz="2400" kern="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Московский государственный технический университет </a:t>
            </a:r>
            <a:r>
              <a:rPr lang="ru-RU" altLang="zh-CN" sz="2400" kern="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имени Н.Э. Баумана</a:t>
            </a:r>
            <a:endParaRPr lang="zh-CN" altLang="en-US" sz="24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B42B6DA-F0FA-47C8-B0C4-469908C853CC}"/>
              </a:ext>
            </a:extLst>
          </p:cNvPr>
          <p:cNvSpPr txBox="1"/>
          <p:nvPr/>
        </p:nvSpPr>
        <p:spPr>
          <a:xfrm>
            <a:off x="2284298" y="975019"/>
            <a:ext cx="87769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zh-CN" sz="2400" kern="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Кафедра “Компьютерные системы автоматизации производства</a:t>
            </a:r>
            <a:r>
              <a:rPr lang="zh-CN" altLang="en-US" sz="2400" kern="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zh-CN" altLang="zh-CN" sz="2400" kern="100" dirty="0">
              <a:solidFill>
                <a:schemeClr val="bg2">
                  <a:lumMod val="10000"/>
                </a:schemeClr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2D6140F-792C-4572-A6F1-8D538AD9C206}"/>
              </a:ext>
            </a:extLst>
          </p:cNvPr>
          <p:cNvSpPr txBox="1"/>
          <p:nvPr/>
        </p:nvSpPr>
        <p:spPr>
          <a:xfrm>
            <a:off x="5556738" y="4472770"/>
            <a:ext cx="6500035" cy="1781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340610">
              <a:lnSpc>
                <a:spcPct val="150000"/>
              </a:lnSpc>
              <a:spcAft>
                <a:spcPts val="150"/>
              </a:spcAft>
              <a:tabLst>
                <a:tab pos="-3690620" algn="l"/>
              </a:tabLst>
            </a:pPr>
            <a:r>
              <a:rPr lang="ru-RU" altLang="zh-CN" kern="100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Студент: </a:t>
            </a:r>
            <a:r>
              <a:rPr lang="ru-RU" altLang="zh-CN" b="1" kern="100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Чжан Цзюньцзе</a:t>
            </a:r>
          </a:p>
          <a:p>
            <a:pPr indent="2340610">
              <a:lnSpc>
                <a:spcPct val="150000"/>
              </a:lnSpc>
              <a:spcAft>
                <a:spcPts val="150"/>
              </a:spcAft>
              <a:tabLst>
                <a:tab pos="-3690620" algn="l"/>
              </a:tabLst>
            </a:pPr>
            <a:r>
              <a:rPr lang="ru-RU" altLang="zh-CN" kern="100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Группа: </a:t>
            </a:r>
            <a:r>
              <a:rPr lang="ru-RU" altLang="zh-CN" b="1" kern="100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РК9-22М</a:t>
            </a:r>
            <a:endParaRPr lang="en-US" altLang="zh-CN" sz="1600" b="1" kern="100" dirty="0">
              <a:solidFill>
                <a:schemeClr val="tx2">
                  <a:lumMod val="90000"/>
                </a:schemeClr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340610">
              <a:lnSpc>
                <a:spcPct val="150000"/>
              </a:lnSpc>
              <a:spcAft>
                <a:spcPts val="150"/>
              </a:spcAft>
            </a:pPr>
            <a:r>
              <a:rPr lang="ru-RU" altLang="zh-CN" kern="100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Руководитель: </a:t>
            </a:r>
            <a:r>
              <a:rPr lang="ru-RU" altLang="zh-CN" b="1" kern="100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Овсянников М.В.</a:t>
            </a:r>
            <a:endParaRPr lang="en-US" altLang="zh-CN" b="1" kern="100" dirty="0">
              <a:solidFill>
                <a:schemeClr val="tx2">
                  <a:lumMod val="9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2340610">
              <a:lnSpc>
                <a:spcPct val="150000"/>
              </a:lnSpc>
              <a:spcAft>
                <a:spcPts val="150"/>
              </a:spcAft>
            </a:pPr>
            <a:r>
              <a:rPr lang="ru-RU" altLang="zh-CN" kern="100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Консультант</a:t>
            </a:r>
            <a:r>
              <a:rPr lang="ru-RU" altLang="zh-CN" sz="1600" b="1" kern="100" dirty="0">
                <a:solidFill>
                  <a:schemeClr val="tx2">
                    <a:lumMod val="90000"/>
                  </a:schemeClr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宋体" panose="02010600030101010101" pitchFamily="2" charset="-122"/>
              </a:rPr>
              <a:t>:</a:t>
            </a:r>
            <a:r>
              <a:rPr lang="ru-RU" altLang="zh-CN" sz="1600" b="1" kern="100" dirty="0">
                <a:solidFill>
                  <a:schemeClr val="tx2">
                    <a:lumMod val="9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b="1" kern="100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Буханов</a:t>
            </a:r>
            <a:r>
              <a:rPr lang="en-US" b="1" kern="100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ru-RU" b="1" kern="100" dirty="0">
                <a:solidFill>
                  <a:schemeClr val="tx2">
                    <a:lumMod val="9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С.А.</a:t>
            </a:r>
            <a:endParaRPr lang="en-US" altLang="zh-CN" b="1" kern="100" dirty="0">
              <a:solidFill>
                <a:schemeClr val="tx2">
                  <a:lumMod val="9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681F24-B930-49F9-89BA-AA351DE472F7}"/>
              </a:ext>
            </a:extLst>
          </p:cNvPr>
          <p:cNvSpPr txBox="1"/>
          <p:nvPr/>
        </p:nvSpPr>
        <p:spPr>
          <a:xfrm>
            <a:off x="995263" y="2484058"/>
            <a:ext cx="10835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i="1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Разработка облачной системы управления промышленным роботом </a:t>
            </a:r>
            <a:endParaRPr lang="zh-CN" altLang="en-US" sz="36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EEAB89C-BA11-4E8E-AE62-3C03074E3E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27" y="192196"/>
            <a:ext cx="1465772" cy="1729611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E9AA58-5251-4359-9D3A-EEBEF9D6D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5111" y="6394235"/>
            <a:ext cx="372208" cy="365125"/>
          </a:xfrm>
        </p:spPr>
        <p:txBody>
          <a:bodyPr/>
          <a:lstStyle/>
          <a:p>
            <a:fld id="{04BB56B3-F735-4F0B-8D50-01489708E700}" type="slidenum">
              <a:rPr lang="zh-CN" altLang="en-US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CN" alt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3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F0FFB0D-5D70-41F0-8057-3A0A268CBC1C}"/>
              </a:ext>
            </a:extLst>
          </p:cNvPr>
          <p:cNvSpPr txBox="1"/>
          <p:nvPr/>
        </p:nvSpPr>
        <p:spPr>
          <a:xfrm>
            <a:off x="763607" y="869321"/>
            <a:ext cx="11053253" cy="874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Разработка облачной системы управления промышленным роботом .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AB94B0-67CA-4946-8B40-7EF79D7CFD6C}"/>
              </a:ext>
            </a:extLst>
          </p:cNvPr>
          <p:cNvSpPr txBox="1"/>
          <p:nvPr/>
        </p:nvSpPr>
        <p:spPr>
          <a:xfrm>
            <a:off x="763607" y="2030129"/>
            <a:ext cx="1024546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Предпроектное обследование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для облачной системы управления промышленным роботом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Выбор аппаратной устройства и облачной платформы.</a:t>
            </a:r>
            <a:endParaRPr lang="ru-RU" sz="18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Выбор протокола и формата для обмена данным.</a:t>
            </a:r>
            <a:endParaRPr lang="ru-RU" sz="18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Проектирование структуры облачной системы управления.</a:t>
            </a:r>
            <a:endParaRPr lang="ru-RU" sz="18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Реализация программы фронтона облачной системы управления.</a:t>
            </a:r>
            <a:endParaRPr lang="ru-RU" sz="18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Реализация программы бэкенд(сервера) облачной системы управления.</a:t>
            </a:r>
            <a:endParaRPr lang="ru-RU" sz="18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Реализация программы микроконтроллера облачной системы управления</a:t>
            </a:r>
            <a:r>
              <a:rPr lang="ru-RU" sz="1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759F201-0923-4B22-AA72-968D5B59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533" y="6426030"/>
            <a:ext cx="2743200" cy="365125"/>
          </a:xfrm>
        </p:spPr>
        <p:txBody>
          <a:bodyPr/>
          <a:lstStyle/>
          <a:p>
            <a:fld id="{04BB56B3-F735-4F0B-8D50-01489708E700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28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E8F4D591-C8C4-4457-9A95-117077B369ED}"/>
              </a:ext>
            </a:extLst>
          </p:cNvPr>
          <p:cNvSpPr txBox="1"/>
          <p:nvPr/>
        </p:nvSpPr>
        <p:spPr>
          <a:xfrm>
            <a:off x="551944" y="2549000"/>
            <a:ext cx="4246592" cy="3828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Применение технологии IIoT</a:t>
            </a:r>
            <a:r>
              <a:rPr 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Промышленный Интернет вещей</a:t>
            </a:r>
            <a:r>
              <a:rPr 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в современной промышленности в первую очередь отражается в промышленном производстве, Промышленный Интернет вещей реализует сбор и хранение данных об оборудовании и удаленное управление оборудованием, что повышает эффективность производства</a:t>
            </a:r>
            <a:r>
              <a:rPr lang="ru-RU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ru-RU" sz="20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77248F8-CFE9-4C26-82BC-84B1775C70F0}"/>
              </a:ext>
            </a:extLst>
          </p:cNvPr>
          <p:cNvSpPr txBox="1"/>
          <p:nvPr/>
        </p:nvSpPr>
        <p:spPr>
          <a:xfrm>
            <a:off x="551944" y="912332"/>
            <a:ext cx="10812761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150000"/>
              </a:lnSpc>
            </a:pPr>
            <a:r>
              <a:rPr lang="ru-RU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 Вещей (IoT, Internet of Things) – система объединенных компьютерных сетей и подключенных физических объектов (вещей) со встроенными датчиками и ПО для сбора и обмена данными, с возможностью удаленного контроля и управления в автоматизированном режиме, без участия человека.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552AC5C6-9C21-4BCC-90F8-5F4B24943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175" y="2589862"/>
            <a:ext cx="5943600" cy="36195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331EDCC9-7A27-493F-B9A1-280433BB345B}"/>
              </a:ext>
            </a:extLst>
          </p:cNvPr>
          <p:cNvSpPr txBox="1"/>
          <p:nvPr/>
        </p:nvSpPr>
        <p:spPr>
          <a:xfrm>
            <a:off x="3908180" y="247278"/>
            <a:ext cx="6110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Промышленный интернете вещей </a:t>
            </a:r>
            <a:endParaRPr lang="ru-RU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F0E262-B5F1-4ED6-BEA3-415E82AA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785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EBC25124-BCD5-4359-A360-8401320558E9}"/>
              </a:ext>
            </a:extLst>
          </p:cNvPr>
          <p:cNvSpPr txBox="1"/>
          <p:nvPr/>
        </p:nvSpPr>
        <p:spPr>
          <a:xfrm>
            <a:off x="955832" y="131602"/>
            <a:ext cx="106112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zh-C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Архитектурная схема облачной системы управления промышленным роботом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E36C37-29C9-4849-AF44-48EBC054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FFC0A16-97C6-499B-A83C-25A8BAAE30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55" y="1553961"/>
            <a:ext cx="5783245" cy="4115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3EC3CB4-44CF-4231-8CD8-734A3B82E94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193998" y="1553961"/>
            <a:ext cx="5783245" cy="411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1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2687680-01D7-4717-BDFC-A15720F4A613}"/>
              </a:ext>
            </a:extLst>
          </p:cNvPr>
          <p:cNvSpPr txBox="1"/>
          <p:nvPr/>
        </p:nvSpPr>
        <p:spPr>
          <a:xfrm>
            <a:off x="1381277" y="121527"/>
            <a:ext cx="9429140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ru-RU" altLang="ru-RU" sz="24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Сравнение протоколов обмена данными в Промышленном Интернете вещей</a:t>
            </a:r>
            <a:endParaRPr lang="ru-RU" sz="2400" b="1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227F76E-5CFB-4A95-9E77-EFE3FE952C07}"/>
              </a:ext>
            </a:extLst>
          </p:cNvPr>
          <p:cNvSpPr txBox="1"/>
          <p:nvPr/>
        </p:nvSpPr>
        <p:spPr>
          <a:xfrm>
            <a:off x="502767" y="5903117"/>
            <a:ext cx="11186160" cy="792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150000"/>
              </a:lnSpc>
            </a:pPr>
            <a:r>
              <a:rPr lang="ru-RU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протокол </a:t>
            </a:r>
            <a:r>
              <a:rPr lang="ru-RU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может предоставлять надежные службы обмена сообщениями в реальном времени для подключения удаленных устройств с небольшим количеством кодов и ограниченной пропускной способностью и высокая надёжность.</a:t>
            </a:r>
            <a:endParaRPr lang="ru-RU" sz="16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5172BC-5EF0-4585-98C3-15E2A972B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248864"/>
              </p:ext>
            </p:extLst>
          </p:nvPr>
        </p:nvGraphicFramePr>
        <p:xfrm>
          <a:off x="1323535" y="1382622"/>
          <a:ext cx="10149841" cy="44304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2108">
                  <a:extLst>
                    <a:ext uri="{9D8B030D-6E8A-4147-A177-3AD203B41FA5}">
                      <a16:colId xmlns:a16="http://schemas.microsoft.com/office/drawing/2014/main" val="343243591"/>
                    </a:ext>
                  </a:extLst>
                </a:gridCol>
                <a:gridCol w="2238677">
                  <a:extLst>
                    <a:ext uri="{9D8B030D-6E8A-4147-A177-3AD203B41FA5}">
                      <a16:colId xmlns:a16="http://schemas.microsoft.com/office/drawing/2014/main" val="3136841220"/>
                    </a:ext>
                  </a:extLst>
                </a:gridCol>
                <a:gridCol w="2082665">
                  <a:extLst>
                    <a:ext uri="{9D8B030D-6E8A-4147-A177-3AD203B41FA5}">
                      <a16:colId xmlns:a16="http://schemas.microsoft.com/office/drawing/2014/main" val="304717666"/>
                    </a:ext>
                  </a:extLst>
                </a:gridCol>
                <a:gridCol w="2268018">
                  <a:extLst>
                    <a:ext uri="{9D8B030D-6E8A-4147-A177-3AD203B41FA5}">
                      <a16:colId xmlns:a16="http://schemas.microsoft.com/office/drawing/2014/main" val="3416707441"/>
                    </a:ext>
                  </a:extLst>
                </a:gridCol>
                <a:gridCol w="1998373">
                  <a:extLst>
                    <a:ext uri="{9D8B030D-6E8A-4147-A177-3AD203B41FA5}">
                      <a16:colId xmlns:a16="http://schemas.microsoft.com/office/drawing/2014/main" val="2082776985"/>
                    </a:ext>
                  </a:extLst>
                </a:gridCol>
              </a:tblGrid>
              <a:tr h="669554">
                <a:tc grid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altLang="ru-RU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Сравнение протоколов обмена данными в промышленном Интернете вещей</a:t>
                      </a:r>
                      <a:endParaRPr lang="ru-RU" sz="1800" b="1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endParaRPr lang="ru-RU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365041"/>
                  </a:ext>
                </a:extLst>
              </a:tr>
              <a:tr h="3560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DDS</a:t>
                      </a: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CoAP</a:t>
                      </a: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XMPP</a:t>
                      </a:r>
                      <a:endParaRPr lang="ru-RU" sz="1200" b="1" kern="12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MQTT</a:t>
                      </a:r>
                      <a:endParaRPr lang="ru-RU" sz="1200" b="1" kern="12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328225"/>
                  </a:ext>
                </a:extLst>
              </a:tr>
              <a:tr h="5891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Участки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Сенсорный узел – Сенсорный узел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Сенсорный узел – Сервер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Сенсорный узел – Сервер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Сенсорный узел – Сервер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extLst>
                  <a:ext uri="{0D108BD9-81ED-4DB2-BD59-A6C34878D82A}">
                    <a16:rowId xmlns:a16="http://schemas.microsoft.com/office/drawing/2014/main" val="649478097"/>
                  </a:ext>
                </a:extLst>
              </a:tr>
              <a:tr h="6585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Подходит для сетей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неограниченными возможностями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ограниченными возможностям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неограниченными возможностями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ограниченными возможностям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extLst>
                  <a:ext uri="{0D108BD9-81ED-4DB2-BD59-A6C34878D82A}">
                    <a16:rowId xmlns:a16="http://schemas.microsoft.com/office/drawing/2014/main" val="3198183112"/>
                  </a:ext>
                </a:extLst>
              </a:tr>
              <a:tr h="6325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Основа протокола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extLst>
                  <a:ext uri="{0D108BD9-81ED-4DB2-BD59-A6C34878D82A}">
                    <a16:rowId xmlns:a16="http://schemas.microsoft.com/office/drawing/2014/main" val="3192207407"/>
                  </a:ext>
                </a:extLst>
              </a:tr>
              <a:tr h="8686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Передача сообщений в режиме реального времени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extLst>
                  <a:ext uri="{0D108BD9-81ED-4DB2-BD59-A6C34878D82A}">
                    <a16:rowId xmlns:a16="http://schemas.microsoft.com/office/drawing/2014/main" val="653773326"/>
                  </a:ext>
                </a:extLst>
              </a:tr>
              <a:tr h="6560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Надёжность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712" marR="60712" marT="0" marB="0"/>
                </a:tc>
                <a:extLst>
                  <a:ext uri="{0D108BD9-81ED-4DB2-BD59-A6C34878D82A}">
                    <a16:rowId xmlns:a16="http://schemas.microsoft.com/office/drawing/2014/main" val="1376416043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209F1FB-452C-477A-A1FC-F7DABEED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89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2687680-01D7-4717-BDFC-A15720F4A613}"/>
              </a:ext>
            </a:extLst>
          </p:cNvPr>
          <p:cNvSpPr txBox="1"/>
          <p:nvPr/>
        </p:nvSpPr>
        <p:spPr>
          <a:xfrm>
            <a:off x="3423260" y="237314"/>
            <a:ext cx="822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протокол обмена сообщениями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F68F7840-8B03-4419-8119-0252CB114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144" y="1385837"/>
            <a:ext cx="6135077" cy="3834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0BDE5F5B-D715-4179-916A-9340F10D39C9}"/>
              </a:ext>
            </a:extLst>
          </p:cNvPr>
          <p:cNvSpPr txBox="1"/>
          <p:nvPr/>
        </p:nvSpPr>
        <p:spPr>
          <a:xfrm>
            <a:off x="180358" y="1385837"/>
            <a:ext cx="5302733" cy="435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Клиент(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и брокер (broker) могут быть издателем или подписчиком (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publisher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subscriber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сообщений. </a:t>
            </a:r>
            <a:endParaRPr 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Процесс обмена данными по протоколу MQTT как следующий </a:t>
            </a:r>
            <a:r>
              <a:rPr 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Издатель отправляет данные на 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MQTT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брокер, указывая в сообщении определенную тему, топик (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topic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). Подписчики могут получать разные данные от множества издателей в зависимости от подписки на соответствующие топики.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85E875-D78A-4CA5-BB11-B2F74B9A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971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2687680-01D7-4717-BDFC-A15720F4A613}"/>
              </a:ext>
            </a:extLst>
          </p:cNvPr>
          <p:cNvSpPr txBox="1"/>
          <p:nvPr/>
        </p:nvSpPr>
        <p:spPr>
          <a:xfrm>
            <a:off x="3256206" y="412925"/>
            <a:ext cx="822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 </a:t>
            </a:r>
            <a:r>
              <a:rPr lang="ru-R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обмена сообщениями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85E875-D78A-4CA5-BB11-B2F74B9A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88BCEF4-D840-4D5B-BEBD-D5CFB8C647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23893" y="1785757"/>
            <a:ext cx="4575081" cy="4197653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8CE12BAE-1C79-4E5F-B2E5-AF60BAAC0233}"/>
              </a:ext>
            </a:extLst>
          </p:cNvPr>
          <p:cNvSpPr txBox="1"/>
          <p:nvPr/>
        </p:nvSpPr>
        <p:spPr>
          <a:xfrm>
            <a:off x="399566" y="2079691"/>
            <a:ext cx="5696434" cy="2540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WebSocket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— это полнодуплексный протокол связи между веб-клиентом и сервером. После подключения веб-клиента к серверу вся передача данных проходит через этот протокол. Данные в любом формате, таком как JSON, XML, HTML или изображения, могут быть отправлены друг другу во время общения.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562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60A044DB-81C2-4CF5-9386-88C490ADC642}"/>
              </a:ext>
            </a:extLst>
          </p:cNvPr>
          <p:cNvSpPr txBox="1"/>
          <p:nvPr/>
        </p:nvSpPr>
        <p:spPr>
          <a:xfrm>
            <a:off x="3987109" y="296697"/>
            <a:ext cx="5475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</a:t>
            </a:r>
            <a:r>
              <a:rPr lang="ru-R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для обмена данными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FD7700D-2610-4539-A5E9-4142EFE6F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353100"/>
              </p:ext>
            </p:extLst>
          </p:nvPr>
        </p:nvGraphicFramePr>
        <p:xfrm>
          <a:off x="237034" y="1775160"/>
          <a:ext cx="6384085" cy="37269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5123">
                  <a:extLst>
                    <a:ext uri="{9D8B030D-6E8A-4147-A177-3AD203B41FA5}">
                      <a16:colId xmlns:a16="http://schemas.microsoft.com/office/drawing/2014/main" val="4086989335"/>
                    </a:ext>
                  </a:extLst>
                </a:gridCol>
                <a:gridCol w="1090246">
                  <a:extLst>
                    <a:ext uri="{9D8B030D-6E8A-4147-A177-3AD203B41FA5}">
                      <a16:colId xmlns:a16="http://schemas.microsoft.com/office/drawing/2014/main" val="1079672531"/>
                    </a:ext>
                  </a:extLst>
                </a:gridCol>
                <a:gridCol w="1480893">
                  <a:extLst>
                    <a:ext uri="{9D8B030D-6E8A-4147-A177-3AD203B41FA5}">
                      <a16:colId xmlns:a16="http://schemas.microsoft.com/office/drawing/2014/main" val="2359699578"/>
                    </a:ext>
                  </a:extLst>
                </a:gridCol>
                <a:gridCol w="1022474">
                  <a:extLst>
                    <a:ext uri="{9D8B030D-6E8A-4147-A177-3AD203B41FA5}">
                      <a16:colId xmlns:a16="http://schemas.microsoft.com/office/drawing/2014/main" val="660453945"/>
                    </a:ext>
                  </a:extLst>
                </a:gridCol>
                <a:gridCol w="1013587">
                  <a:extLst>
                    <a:ext uri="{9D8B030D-6E8A-4147-A177-3AD203B41FA5}">
                      <a16:colId xmlns:a16="http://schemas.microsoft.com/office/drawing/2014/main" val="1786231556"/>
                    </a:ext>
                  </a:extLst>
                </a:gridCol>
                <a:gridCol w="1151762">
                  <a:extLst>
                    <a:ext uri="{9D8B030D-6E8A-4147-A177-3AD203B41FA5}">
                      <a16:colId xmlns:a16="http://schemas.microsoft.com/office/drawing/2014/main" val="2753028395"/>
                    </a:ext>
                  </a:extLst>
                </a:gridCol>
              </a:tblGrid>
              <a:tr h="506294">
                <a:tc gridSpan="6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kumimoji="0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Сравнение форматов для обмена данными</a:t>
                      </a:r>
                      <a:endParaRPr lang="ru-RU" sz="18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endParaRPr lang="ru-RU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2763084"/>
                  </a:ext>
                </a:extLst>
              </a:tr>
              <a:tr h="122460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Область применения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Кодирование и декодирование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Читаемость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Сложность формата данных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Облегченный формат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7630800"/>
                  </a:ext>
                </a:extLst>
              </a:tr>
              <a:tr h="9931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XML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Передача массивных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данных 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Сложная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6233981"/>
                  </a:ext>
                </a:extLst>
              </a:tr>
              <a:tr h="9931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Передача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ебольш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их 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данных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Легко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Простая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1816899"/>
                  </a:ext>
                </a:extLst>
              </a:tr>
            </a:tbl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EF49C4E6-421C-41EA-A9B7-EAD614AF0A6D}"/>
              </a:ext>
            </a:extLst>
          </p:cNvPr>
          <p:cNvSpPr txBox="1"/>
          <p:nvPr/>
        </p:nvSpPr>
        <p:spPr>
          <a:xfrm>
            <a:off x="391858" y="5914972"/>
            <a:ext cx="11799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JSON </a:t>
            </a:r>
            <a:r>
              <a:rPr lang="ru-RU" dirty="0">
                <a:latin typeface="Times New Roman" panose="02020603050405020304" pitchFamily="18" charset="0"/>
                <a:ea typeface="宋体" panose="02010600030101010101" pitchFamily="2" charset="-122"/>
              </a:rPr>
              <a:t>- 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это облегченный формат обмена данными. Легко читать и писать. Также легко анализировать и генерировать на машине.</a:t>
            </a:r>
            <a:endParaRPr lang="ru-RU" dirty="0"/>
          </a:p>
        </p:txBody>
      </p:sp>
      <p:pic>
        <p:nvPicPr>
          <p:cNvPr id="25" name="Picture 2" descr="Java JSON parser - разбираем простой пример парсинга">
            <a:extLst>
              <a:ext uri="{FF2B5EF4-FFF2-40B4-BE49-F238E27FC236}">
                <a16:creationId xmlns:a16="http://schemas.microsoft.com/office/drawing/2014/main" id="{604A2D70-A724-4D51-89AE-1FBE9B6D0A8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835" y="2100657"/>
            <a:ext cx="5209405" cy="3075305"/>
          </a:xfrm>
          <a:prstGeom prst="rect">
            <a:avLst/>
          </a:prstGeom>
          <a:noFill/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4A9A31-74BB-46FA-8146-F73DF3EE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565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12F6B37-27BE-48B4-B0B9-9F834264A639}"/>
              </a:ext>
            </a:extLst>
          </p:cNvPr>
          <p:cNvSpPr txBox="1"/>
          <p:nvPr/>
        </p:nvSpPr>
        <p:spPr>
          <a:xfrm>
            <a:off x="2036304" y="118647"/>
            <a:ext cx="9138718" cy="587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Диаграмма последовательности передач сообщения </a:t>
            </a:r>
            <a:endParaRPr lang="ru-RU" sz="24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F9DDF4-E345-4006-8A0D-F7B9BEEE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8FBDE125-46AD-4309-87B3-37B30AF0D48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371" y="889223"/>
            <a:ext cx="8032386" cy="57860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6071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C1F9C43A-DE99-48E7-A808-5DC2850E0B1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459" y="1700156"/>
            <a:ext cx="2868539" cy="322228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2A1EF681-E2F9-4FE3-BE4A-890F524C2CF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06" y="1711632"/>
            <a:ext cx="3293467" cy="3222284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1D81B62-34A2-47F9-BDD5-37BFFF5F5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288416"/>
              </p:ext>
            </p:extLst>
          </p:nvPr>
        </p:nvGraphicFramePr>
        <p:xfrm>
          <a:off x="7228925" y="1617785"/>
          <a:ext cx="4401596" cy="48687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4472">
                  <a:extLst>
                    <a:ext uri="{9D8B030D-6E8A-4147-A177-3AD203B41FA5}">
                      <a16:colId xmlns:a16="http://schemas.microsoft.com/office/drawing/2014/main" val="4259397167"/>
                    </a:ext>
                  </a:extLst>
                </a:gridCol>
                <a:gridCol w="2977124">
                  <a:extLst>
                    <a:ext uri="{9D8B030D-6E8A-4147-A177-3AD203B41FA5}">
                      <a16:colId xmlns:a16="http://schemas.microsoft.com/office/drawing/2014/main" val="666287437"/>
                    </a:ext>
                  </a:extLst>
                </a:gridCol>
              </a:tblGrid>
              <a:tr h="712177">
                <a:tc gridSpan="2">
                  <a:txBody>
                    <a:bodyPr/>
                    <a:lstStyle/>
                    <a:p>
                      <a:pPr marL="0" marR="0" lvl="0" indent="35560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Основные управляющие команды роботом</a:t>
                      </a:r>
                      <a:endParaRPr kumimoji="0" lang="ru-RU" alt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538839"/>
                  </a:ext>
                </a:extLst>
              </a:tr>
              <a:tr h="711891"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Задает перемещение в позицию из баз данных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919894"/>
                  </a:ext>
                </a:extLst>
              </a:tr>
              <a:tr h="711891"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Задает скорость и ускорение перемещения робота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385434"/>
                  </a:ext>
                </a:extLst>
              </a:tr>
              <a:tr h="711891"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Открыть схват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252943"/>
                  </a:ext>
                </a:extLst>
              </a:tr>
              <a:tr h="336820"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GC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Закрыть схват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511500"/>
                  </a:ext>
                </a:extLst>
              </a:tr>
              <a:tr h="336820"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Задержка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12199"/>
                  </a:ext>
                </a:extLst>
              </a:tr>
              <a:tr h="336820"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Текущая позиция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883693"/>
                  </a:ext>
                </a:extLst>
              </a:tr>
              <a:tr h="336820"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 данных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18355"/>
                  </a:ext>
                </a:extLst>
              </a:tr>
              <a:tr h="336820"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Начало программы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84501"/>
                  </a:ext>
                </a:extLst>
              </a:tr>
              <a:tr h="336820"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RN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55600" algn="just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Конец программы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666178"/>
                  </a:ext>
                </a:extLst>
              </a:tr>
            </a:tbl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9945612E-ED3D-43A6-BE50-4194D951E868}"/>
              </a:ext>
            </a:extLst>
          </p:cNvPr>
          <p:cNvSpPr txBox="1"/>
          <p:nvPr/>
        </p:nvSpPr>
        <p:spPr>
          <a:xfrm>
            <a:off x="278610" y="5255492"/>
            <a:ext cx="6423265" cy="1294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Робот-манипулятор 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Melfa RV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-2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AJ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имеет 5 степеней свободы плюс схват, который имеет 2 состояния (закрыт-открыт).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1A00735-B05E-487A-9D56-A8C8F8AB8FA7}"/>
              </a:ext>
            </a:extLst>
          </p:cNvPr>
          <p:cNvSpPr txBox="1"/>
          <p:nvPr/>
        </p:nvSpPr>
        <p:spPr>
          <a:xfrm>
            <a:off x="2220853" y="236375"/>
            <a:ext cx="77499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Робот-манипулятор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Melfa RV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-2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AJ</a:t>
            </a:r>
            <a:endParaRPr lang="ru-RU" sz="2400" b="1" dirty="0"/>
          </a:p>
        </p:txBody>
      </p:sp>
      <p:sp>
        <p:nvSpPr>
          <p:cNvPr id="30" name="灯片编号占位符 29">
            <a:extLst>
              <a:ext uri="{FF2B5EF4-FFF2-40B4-BE49-F238E27FC236}">
                <a16:creationId xmlns:a16="http://schemas.microsoft.com/office/drawing/2014/main" id="{6F5A9671-4605-42E2-8C24-978B3FF9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773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1BF3FAB8-E4EA-4481-9309-74C930FFEE23}"/>
              </a:ext>
            </a:extLst>
          </p:cNvPr>
          <p:cNvSpPr txBox="1"/>
          <p:nvPr/>
        </p:nvSpPr>
        <p:spPr>
          <a:xfrm>
            <a:off x="2515179" y="173332"/>
            <a:ext cx="7161335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</a:pPr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База данных облачной системы управления роботом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F1AB88-E028-4A2E-A29E-85C70061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A3FD2EB-8A7D-4163-B303-AE73CFF56A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747714" y="1744300"/>
            <a:ext cx="6382385" cy="271161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08B0D12-45B6-4941-B988-8D60B8AAE52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714" y="4765517"/>
            <a:ext cx="5988685" cy="14732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0D2789B0-00A2-4211-837E-DBF144746E1F}"/>
              </a:ext>
            </a:extLst>
          </p:cNvPr>
          <p:cNvSpPr txBox="1"/>
          <p:nvPr/>
        </p:nvSpPr>
        <p:spPr>
          <a:xfrm>
            <a:off x="201022" y="3317994"/>
            <a:ext cx="5163047" cy="170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В базе данных есть две основные таблицы, код управления роботом хранится в первой таблице, состояние робота в реальном времени хранится во второй таблице.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D7C10F2-1DE1-44F4-9B80-3AE0E4904F35}"/>
              </a:ext>
            </a:extLst>
          </p:cNvPr>
          <p:cNvSpPr txBox="1"/>
          <p:nvPr/>
        </p:nvSpPr>
        <p:spPr>
          <a:xfrm>
            <a:off x="324428" y="2079348"/>
            <a:ext cx="52635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/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Мы используем систему управления базами данных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Mysql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в облачной системе управления промышленным роботом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8243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E3DDD00-BA69-4213-A45F-707BC904C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E6DBC00-3DDA-469C-B292-F670C654FC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7055" y="1692275"/>
            <a:ext cx="6120130" cy="3473450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0A717E84-5426-48C0-AC7B-AE0562235963}"/>
              </a:ext>
            </a:extLst>
          </p:cNvPr>
          <p:cNvSpPr txBox="1"/>
          <p:nvPr/>
        </p:nvSpPr>
        <p:spPr>
          <a:xfrm>
            <a:off x="3040227" y="384473"/>
            <a:ext cx="611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Вход в интерфейс системы управления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C79BE4A-1F1E-4B5C-B3D1-8994847D6CE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117" y="1152960"/>
            <a:ext cx="3589655" cy="5498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3199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7A190FB-9FD7-443E-AD97-DC820B16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E1A60F4-4A4A-4201-85C9-D6E9898D969B}"/>
              </a:ext>
            </a:extLst>
          </p:cNvPr>
          <p:cNvSpPr txBox="1"/>
          <p:nvPr/>
        </p:nvSpPr>
        <p:spPr>
          <a:xfrm>
            <a:off x="2015337" y="194995"/>
            <a:ext cx="81610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Интерфейс управления облачной системы управления промышленным роботом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BC8F6D6-318C-438A-AABA-6CDFF515CB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25636" y="1765617"/>
            <a:ext cx="7140422" cy="409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66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12645B-1F17-415F-8BB1-F87697CA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C344893-6255-45FD-BE0B-C613CB696C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12540" y="1764178"/>
            <a:ext cx="7735700" cy="44574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F2868C25-0CD5-4D92-8F3A-F6270DA67519}"/>
              </a:ext>
            </a:extLst>
          </p:cNvPr>
          <p:cNvSpPr txBox="1"/>
          <p:nvPr/>
        </p:nvSpPr>
        <p:spPr>
          <a:xfrm>
            <a:off x="1682620" y="69423"/>
            <a:ext cx="9147940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</a:pPr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Интерфейс запроса состояния робота облачной системы управления промышленным роботом</a:t>
            </a:r>
          </a:p>
        </p:txBody>
      </p:sp>
    </p:spTree>
    <p:extLst>
      <p:ext uri="{BB962C8B-B14F-4D97-AF65-F5344CB8AC3E}">
        <p14:creationId xmlns:p14="http://schemas.microsoft.com/office/powerpoint/2010/main" val="1126993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C5F265-9760-47DA-9893-07DF5A66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CB37249-C672-45FB-BC3D-64B6224C7D6D}"/>
              </a:ext>
            </a:extLst>
          </p:cNvPr>
          <p:cNvSpPr txBox="1"/>
          <p:nvPr/>
        </p:nvSpPr>
        <p:spPr>
          <a:xfrm>
            <a:off x="1978298" y="205155"/>
            <a:ext cx="79886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Реализация программы </a:t>
            </a:r>
            <a:r>
              <a:rPr lang="ru-RU" sz="2400" b="1" dirty="0">
                <a:solidFill>
                  <a:srgbClr val="343434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фронтона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облачной системы управления 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8E817F0C-413F-4448-A1D7-41B25E76E8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5133" y="1432427"/>
            <a:ext cx="7641908" cy="49438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F29404CC-A5A4-4E55-9CC1-FBA16D540D32}"/>
              </a:ext>
            </a:extLst>
          </p:cNvPr>
          <p:cNvSpPr txBox="1"/>
          <p:nvPr/>
        </p:nvSpPr>
        <p:spPr>
          <a:xfrm>
            <a:off x="8145767" y="2250889"/>
            <a:ext cx="3927202" cy="235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Сообщение в формате 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JSON 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серверу как следующий: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lnSpc>
                <a:spcPct val="150000"/>
              </a:lnSpc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0215" indent="533400" algn="just">
              <a:lnSpc>
                <a:spcPct val="150000"/>
              </a:lnSpc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InstructionRobot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”: “…….” 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lnSpc>
                <a:spcPct val="150000"/>
              </a:lnSpc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516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C5F265-9760-47DA-9893-07DF5A66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CB37249-C672-45FB-BC3D-64B6224C7D6D}"/>
              </a:ext>
            </a:extLst>
          </p:cNvPr>
          <p:cNvSpPr txBox="1"/>
          <p:nvPr/>
        </p:nvSpPr>
        <p:spPr>
          <a:xfrm>
            <a:off x="2303418" y="276275"/>
            <a:ext cx="79886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Реализация программы </a:t>
            </a:r>
            <a:r>
              <a:rPr lang="ru-RU" sz="2400" b="1" dirty="0">
                <a:solidFill>
                  <a:srgbClr val="343434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бэкенда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(сервера) облачной системы управления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5FC4481-7807-4CDA-B0BB-C3920654A95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285403"/>
            <a:ext cx="6567942" cy="512017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BD7FE380-FCC8-4518-B0B9-7BAF5FA900A5}"/>
              </a:ext>
            </a:extLst>
          </p:cNvPr>
          <p:cNvSpPr txBox="1"/>
          <p:nvPr/>
        </p:nvSpPr>
        <p:spPr>
          <a:xfrm>
            <a:off x="7177639" y="2250889"/>
            <a:ext cx="4648601" cy="235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Сообщение в формате 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JSON 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облачной платформе как следующий: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lnSpc>
                <a:spcPct val="150000"/>
              </a:lnSpc>
              <a:spcAft>
                <a:spcPts val="6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0215" indent="533400" algn="just">
              <a:lnSpc>
                <a:spcPct val="150000"/>
              </a:lnSpc>
              <a:spcAft>
                <a:spcPts val="6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CodeRobot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”: “……” 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lnSpc>
                <a:spcPct val="150000"/>
              </a:lnSpc>
              <a:spcAft>
                <a:spcPts val="6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021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C5F265-9760-47DA-9893-07DF5A66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CB37249-C672-45FB-BC3D-64B6224C7D6D}"/>
              </a:ext>
            </a:extLst>
          </p:cNvPr>
          <p:cNvSpPr txBox="1"/>
          <p:nvPr/>
        </p:nvSpPr>
        <p:spPr>
          <a:xfrm>
            <a:off x="2101516" y="281317"/>
            <a:ext cx="79886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Реализация программы микроконтроллера облачной системы управления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F9A4EEA-BD78-4AE6-8974-6F2BC10222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9390" y="1285403"/>
            <a:ext cx="5890260" cy="5105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68E7316-43E2-4072-A728-97D3CB74C5EA}"/>
              </a:ext>
            </a:extLst>
          </p:cNvPr>
          <p:cNvSpPr txBox="1"/>
          <p:nvPr/>
        </p:nvSpPr>
        <p:spPr>
          <a:xfrm>
            <a:off x="6264192" y="1745222"/>
            <a:ext cx="5802960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spcAft>
                <a:spcPts val="6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Сообщение в формате 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JSON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платформе 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Alibaba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cloud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как следующий:</a:t>
            </a:r>
            <a:endParaRPr 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450215" algn="just">
              <a:spcAft>
                <a:spcPts val="600"/>
              </a:spcAft>
            </a:pP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0215" indent="533400" algn="just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PointX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”: “X” </a:t>
            </a:r>
            <a:r>
              <a:rPr lang="en-US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0215" indent="533400" algn="just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PointY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”: “Y” </a:t>
            </a:r>
            <a:r>
              <a:rPr lang="en-US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0215" indent="533400" algn="just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PointZ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”: “Z” </a:t>
            </a:r>
            <a:r>
              <a:rPr lang="en-US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0215" indent="533400" algn="just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“AngleJ6”: “J6”,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0215" indent="533400" algn="just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“AngleJ5”: “J5”,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0215" indent="533400" algn="just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RorL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”: “Right/Left”,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0215" indent="533400" algn="just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AorB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”: “Above/Below”,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“Grasp”: “O/C” 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450215" algn="just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ru-RU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701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B4CCD97F-636E-4E35-AE4E-B1DA89FD9E46}"/>
              </a:ext>
            </a:extLst>
          </p:cNvPr>
          <p:cNvSpPr txBox="1"/>
          <p:nvPr/>
        </p:nvSpPr>
        <p:spPr>
          <a:xfrm>
            <a:off x="5144817" y="712943"/>
            <a:ext cx="6110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0"/>
              </a:spcAft>
              <a:tabLst>
                <a:tab pos="270510" algn="l"/>
              </a:tabLst>
            </a:pPr>
            <a:r>
              <a:rPr lang="ru-RU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Заключение 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68CF3F6-8680-4691-91C8-630CDF0D5ABD}"/>
              </a:ext>
            </a:extLst>
          </p:cNvPr>
          <p:cNvSpPr txBox="1"/>
          <p:nvPr/>
        </p:nvSpPr>
        <p:spPr>
          <a:xfrm>
            <a:off x="1531790" y="2024993"/>
            <a:ext cx="8699989" cy="261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В проекте сделал разработку облачной системы управления промышленным роботом на основе промышленного Интернета вещей. Реализовано взаимодействие данных между устройством и облачной платформой. </a:t>
            </a:r>
            <a:endParaRPr 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6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Реализовано дистанционное управление промышленным роботом и контролирование состояния промышленного робота, и сохранение состояния робота в реальном времени в базе данных.</a:t>
            </a:r>
            <a:endParaRPr lang="ru-RU" sz="18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637A9D-6B32-41A6-80A8-F34F391D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8C97-53AD-40BD-9E1B-CD2D6EF4111A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2285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4DB10D4E-2470-428F-830E-5F18C4D19F21}"/>
              </a:ext>
            </a:extLst>
          </p:cNvPr>
          <p:cNvSpPr txBox="1"/>
          <p:nvPr/>
        </p:nvSpPr>
        <p:spPr>
          <a:xfrm>
            <a:off x="3497373" y="2623980"/>
            <a:ext cx="61106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Спасибо за внимание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9BB22A-FD65-4F97-B28C-354230A4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B56B3-F735-4F0B-8D50-01489708E70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62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TM02900688[[fn=平面]]</Template>
  <TotalTime>7548</TotalTime>
  <Words>815</Words>
  <Application>Microsoft Office PowerPoint</Application>
  <PresentationFormat>宽屏</PresentationFormat>
  <Paragraphs>157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等线</vt:lpstr>
      <vt:lpstr>等线 Light</vt:lpstr>
      <vt:lpstr>宋体</vt:lpstr>
      <vt:lpstr>Arial</vt:lpstr>
      <vt:lpstr>Calibri</vt:lpstr>
      <vt:lpstr>Symbol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俊杰 张</dc:creator>
  <cp:lastModifiedBy>俊杰 张</cp:lastModifiedBy>
  <cp:revision>160</cp:revision>
  <dcterms:created xsi:type="dcterms:W3CDTF">2020-11-29T19:57:18Z</dcterms:created>
  <dcterms:modified xsi:type="dcterms:W3CDTF">2021-06-08T12:15:04Z</dcterms:modified>
</cp:coreProperties>
</file>